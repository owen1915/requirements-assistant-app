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Learning review rules with ICAI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E6EAF6"/>
                </a:solidFill>
                <a:latin typeface="Calibri"/>
              </a:rPr>
              <a:t>Turning experts' accept and reject decisions into rules that get tested before they're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B6577"/>
                </a:solidFill>
                <a:latin typeface="Calibri"/>
              </a:rPr>
              <a:t>Inverse Constitutional AI, applied to INCOSE requirement reviews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A4D8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F2B"/>
                </a:solidFill>
                <a:latin typeface="Calibr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Normally, rules are written first and used to judge requirements.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ICAI works the other way round: start from the reviewers' decisions and figure out the rule behind them.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We only look at cases where a reviewer overruled the AI — a reject or a modify.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A rule is kept only if it can predict those decisions on its 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A4D8F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F2B"/>
                </a:solidFill>
                <a:latin typeface="Calibri"/>
              </a:rPr>
              <a:t>Three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Abstraction — write candidate rules from the overruled cases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Deduplication — merge the ones that say the same thing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Validation — test whether each rule predicts the real decisions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5B6577"/>
                </a:solidFill>
                <a:latin typeface="Calibri"/>
              </a:rPr>
              <a:t>The first two are quick. Validation is where most candidates get thrown 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A4D8F"/>
                </a:solidFill>
                <a:latin typeface="Calibri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F2B"/>
                </a:solidFill>
                <a:latin typeface="Calibri"/>
              </a:rPr>
              <a:t>Stage 1 — Abstraction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Group the reject and modify cases by criterion (A9, A10, and so on).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Ask the model to write one to three short rules that capture the pattern.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They all take the same shape: "Do not flag X when Y."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These are just candidates at this point. Nothing is trusted yet.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A4D8F"/>
                </a:solidFill>
                <a:latin typeface="Calibri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F2B"/>
                </a:solidFill>
                <a:latin typeface="Calibri"/>
              </a:rPr>
              <a:t>Stage 2 — Deduplication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Different criteria often throw up rules that mean the same thing.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Merge the near-duplicates into one clear statement.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Keep genuinely different rules separate.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This stops the same rule getting counted twice later 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A4D8F"/>
                </a:solidFill>
                <a:latin typeface="Calibri"/>
              </a:rPr>
              <a:t>STAGE 3 — THE RECONSTRUCTION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F2B"/>
                </a:solidFill>
                <a:latin typeface="Calibri"/>
              </a:rPr>
              <a:t>The model must guess a decision it never sees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4892040" cy="2468880"/>
          </a:xfrm>
          <a:prstGeom prst="roundRect">
            <a:avLst/>
          </a:prstGeom>
          <a:solidFill>
            <a:srgbClr val="F2F3F6"/>
          </a:solidFill>
          <a:ln w="19050">
            <a:solidFill>
              <a:srgbClr val="3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A4D8F"/>
                </a:solidFill>
                <a:latin typeface="Calibri"/>
              </a:rPr>
              <a:t>SHOWN to the model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3A4D8F"/>
                </a:solidFill>
                <a:latin typeface="Calibri"/>
              </a:rPr>
              <a:t>•  </a:t>
            </a:r>
            <a:r>
              <a:rPr sz="1300" b="0">
                <a:solidFill>
                  <a:srgbClr val="1A1F2B"/>
                </a:solidFill>
                <a:latin typeface="Calibri"/>
              </a:rPr>
              <a:t>the candidate rule</a:t>
            </a:r>
          </a:p>
          <a:p>
            <a:pPr>
              <a:spcBef>
                <a:spcPts val="700"/>
              </a:spcBef>
              <a:spcAft>
                <a:spcPts val="0"/>
              </a:spcAft>
            </a:pPr>
            <a:r>
              <a:rPr sz="1300" b="1">
                <a:solidFill>
                  <a:srgbClr val="3A4D8F"/>
                </a:solidFill>
                <a:latin typeface="Calibri"/>
              </a:rPr>
              <a:t>•  </a:t>
            </a:r>
            <a:r>
              <a:rPr sz="1300" b="1">
                <a:solidFill>
                  <a:srgbClr val="1A1F2B"/>
                </a:solidFill>
                <a:latin typeface="Calibri"/>
              </a:rPr>
              <a:t>requirement_text</a:t>
            </a:r>
            <a:r>
              <a:rPr sz="1300" b="0">
                <a:solidFill>
                  <a:srgbClr val="5B6577"/>
                </a:solidFill>
                <a:latin typeface="Calibri"/>
              </a:rPr>
              <a:t>   the requirement</a:t>
            </a:r>
          </a:p>
          <a:p>
            <a:pPr>
              <a:spcBef>
                <a:spcPts val="700"/>
              </a:spcBef>
              <a:spcAft>
                <a:spcPts val="0"/>
              </a:spcAft>
            </a:pPr>
            <a:r>
              <a:rPr sz="1300" b="1">
                <a:solidFill>
                  <a:srgbClr val="3A4D8F"/>
                </a:solidFill>
                <a:latin typeface="Calibri"/>
              </a:rPr>
              <a:t>•  </a:t>
            </a:r>
            <a:r>
              <a:rPr sz="1300" b="1">
                <a:solidFill>
                  <a:srgbClr val="1A1F2B"/>
                </a:solidFill>
                <a:latin typeface="Calibri"/>
              </a:rPr>
              <a:t>ai_suggestion</a:t>
            </a:r>
            <a:r>
              <a:rPr sz="1300" b="0">
                <a:solidFill>
                  <a:srgbClr val="5B6577"/>
                </a:solidFill>
                <a:latin typeface="Calibri"/>
              </a:rPr>
              <a:t>   the change the AI proposed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43400"/>
            <a:ext cx="489204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6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577"/>
                </a:solidFill>
                <a:latin typeface="Calibri"/>
              </a:rPr>
              <a:t>HIDDEN — the answer key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3A4D8F"/>
                </a:solidFill>
                <a:latin typeface="Calibri"/>
              </a:rPr>
              <a:t>•  </a:t>
            </a:r>
            <a:r>
              <a:rPr sz="1250" b="1">
                <a:solidFill>
                  <a:srgbClr val="1A1F2B"/>
                </a:solidFill>
                <a:latin typeface="Calibri"/>
              </a:rPr>
              <a:t>effective_action</a:t>
            </a:r>
            <a:r>
              <a:rPr sz="1250" b="0">
                <a:solidFill>
                  <a:srgbClr val="5B6577"/>
                </a:solidFill>
                <a:latin typeface="Calibri"/>
              </a:rPr>
              <a:t>   what the reviewer really did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3A4D8F"/>
                </a:solidFill>
                <a:latin typeface="Calibri"/>
              </a:rPr>
              <a:t>•  </a:t>
            </a:r>
            <a:r>
              <a:rPr sz="1250" b="0">
                <a:solidFill>
                  <a:srgbClr val="5B6577"/>
                </a:solidFill>
                <a:latin typeface="Calibri"/>
              </a:rPr>
              <a:t>which reviewer it was, and their notes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69280" y="2788920"/>
            <a:ext cx="640080" cy="502920"/>
          </a:xfrm>
          <a:prstGeom prst="rightArrow">
            <a:avLst/>
          </a:prstGeom>
          <a:solidFill>
            <a:srgbClr val="3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46520" y="1691640"/>
            <a:ext cx="5074920" cy="4389120"/>
          </a:xfrm>
          <a:prstGeom prst="roundRect">
            <a:avLst/>
          </a:prstGeom>
          <a:solidFill>
            <a:srgbClr val="F2F3F6"/>
          </a:solidFill>
          <a:ln w="19050">
            <a:solidFill>
              <a:srgbClr val="3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The model replies with one verdict per case: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3A4D8F"/>
                </a:solidFill>
                <a:latin typeface="Calibri"/>
              </a:rPr>
              <a:t>•  </a:t>
            </a:r>
            <a:r>
              <a:rPr sz="1300" b="1">
                <a:solidFill>
                  <a:srgbClr val="9E3B3B"/>
                </a:solidFill>
                <a:latin typeface="Calibri"/>
              </a:rPr>
              <a:t>reject</a:t>
            </a:r>
            <a:r>
              <a:rPr sz="1300" b="0">
                <a:solidFill>
                  <a:srgbClr val="5B6577"/>
                </a:solidFill>
                <a:latin typeface="Calibri"/>
              </a:rPr>
              <a:t>   the rule says the AI is wrong here</a:t>
            </a:r>
          </a:p>
          <a:p>
            <a:pPr>
              <a:spcBef>
                <a:spcPts val="700"/>
              </a:spcBef>
              <a:spcAft>
                <a:spcPts val="0"/>
              </a:spcAft>
            </a:pPr>
            <a:r>
              <a:rPr sz="1300" b="1">
                <a:solidFill>
                  <a:srgbClr val="3A4D8F"/>
                </a:solidFill>
                <a:latin typeface="Calibri"/>
              </a:rPr>
              <a:t>•  </a:t>
            </a:r>
            <a:r>
              <a:rPr sz="1300" b="1">
                <a:solidFill>
                  <a:srgbClr val="2F7D6B"/>
                </a:solidFill>
                <a:latin typeface="Calibri"/>
              </a:rPr>
              <a:t>accept</a:t>
            </a:r>
            <a:r>
              <a:rPr sz="1300" b="0">
                <a:solidFill>
                  <a:srgbClr val="5B6577"/>
                </a:solidFill>
                <a:latin typeface="Calibri"/>
              </a:rPr>
              <a:t>   the rule does not object</a:t>
            </a:r>
          </a:p>
          <a:p>
            <a:pPr>
              <a:spcBef>
                <a:spcPts val="700"/>
              </a:spcBef>
              <a:spcAft>
                <a:spcPts val="0"/>
              </a:spcAft>
            </a:pPr>
            <a:r>
              <a:rPr sz="1300" b="1">
                <a:solidFill>
                  <a:srgbClr val="3A4D8F"/>
                </a:solidFill>
                <a:latin typeface="Calibri"/>
              </a:rPr>
              <a:t>•  </a:t>
            </a:r>
            <a:r>
              <a:rPr sz="1300" b="1">
                <a:solidFill>
                  <a:srgbClr val="5B6577"/>
                </a:solidFill>
                <a:latin typeface="Calibri"/>
              </a:rPr>
              <a:t>na</a:t>
            </a:r>
            <a:r>
              <a:rPr sz="1300" b="0">
                <a:solidFill>
                  <a:srgbClr val="5B6577"/>
                </a:solidFill>
                <a:latin typeface="Calibri"/>
              </a:rPr>
              <a:t>   the rule is not relevant</a:t>
            </a:r>
          </a:p>
          <a:p>
            <a:pPr>
              <a:spcBef>
                <a:spcPts val="1800"/>
              </a:spcBef>
              <a:spcAft>
                <a:spcPts val="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Then compare the verdict to effective_action: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1">
                <a:solidFill>
                  <a:srgbClr val="3A4D8F"/>
                </a:solidFill>
                <a:latin typeface="Calibri"/>
              </a:rPr>
              <a:t>•  </a:t>
            </a:r>
            <a:r>
              <a:rPr sz="1300" b="1">
                <a:solidFill>
                  <a:srgbClr val="2F7D6B"/>
                </a:solidFill>
                <a:latin typeface="Calibri"/>
              </a:rPr>
              <a:t>right</a:t>
            </a:r>
            <a:r>
              <a:rPr sz="1300" b="0">
                <a:solidFill>
                  <a:srgbClr val="5B6577"/>
                </a:solidFill>
                <a:latin typeface="Calibri"/>
              </a:rPr>
              <a:t>   verdict matches the decision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1">
                <a:solidFill>
                  <a:srgbClr val="3A4D8F"/>
                </a:solidFill>
                <a:latin typeface="Calibri"/>
              </a:rPr>
              <a:t>•  </a:t>
            </a:r>
            <a:r>
              <a:rPr sz="1300" b="1">
                <a:solidFill>
                  <a:srgbClr val="9E3B3B"/>
                </a:solidFill>
                <a:latin typeface="Calibri"/>
              </a:rPr>
              <a:t>wrong</a:t>
            </a:r>
            <a:r>
              <a:rPr sz="1300" b="0">
                <a:solidFill>
                  <a:srgbClr val="5B6577"/>
                </a:solidFill>
                <a:latin typeface="Calibri"/>
              </a:rPr>
              <a:t>   verdict misses it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1">
                <a:solidFill>
                  <a:srgbClr val="3A4D8F"/>
                </a:solidFill>
                <a:latin typeface="Calibri"/>
              </a:rPr>
              <a:t>•  </a:t>
            </a:r>
            <a:r>
              <a:rPr sz="1300" b="1">
                <a:solidFill>
                  <a:srgbClr val="5B6577"/>
                </a:solidFill>
                <a:latin typeface="Calibri"/>
              </a:rPr>
              <a:t>na</a:t>
            </a:r>
            <a:r>
              <a:rPr sz="1300" b="0">
                <a:solidFill>
                  <a:srgbClr val="5B6577"/>
                </a:solidFill>
                <a:latin typeface="Calibri"/>
              </a:rPr>
              <a:t>   skipped — counts for neither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362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1">
                <a:solidFill>
                  <a:srgbClr val="5B6577"/>
                </a:solidFill>
                <a:latin typeface="Calibri"/>
              </a:rPr>
              <a:t>method_a_icai.py:  _reconstruction_prompt() builds each case, validate() scores it — the real decision is never in the prompt.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A4D8F"/>
                </a:solidFill>
                <a:latin typeface="Calibri"/>
              </a:rPr>
              <a:t>STAGE 3 —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F2B"/>
                </a:solidFill>
                <a:latin typeface="Calibri"/>
              </a:rPr>
              <a:t>One number per rule: net contribution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1783080"/>
          </a:xfrm>
          <a:prstGeom prst="roundRect">
            <a:avLst/>
          </a:prstGeom>
          <a:solidFill>
            <a:srgbClr val="F2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500" b="1">
                <a:solidFill>
                  <a:srgbClr val="1A1F2B"/>
                </a:solidFill>
                <a:latin typeface="Calibri"/>
              </a:rPr>
              <a:t>Over every case the rule fired on (na cases excluded):</a:t>
            </a:r>
          </a:p>
          <a:p>
            <a:pPr>
              <a:spcBef>
                <a:spcPts val="1600"/>
              </a:spcBef>
              <a:spcAft>
                <a:spcPts val="0"/>
              </a:spcAft>
            </a:pPr>
            <a:r>
              <a:rPr sz="1600" b="1">
                <a:solidFill>
                  <a:srgbClr val="3A4D8F"/>
                </a:solidFill>
                <a:latin typeface="Calibri"/>
              </a:rPr>
              <a:t>net</a:t>
            </a:r>
            <a:r>
              <a:rPr sz="1600" b="0">
                <a:solidFill>
                  <a:srgbClr val="5B6577"/>
                </a:solidFill>
                <a:latin typeface="Calibri"/>
              </a:rPr>
              <a:t>  =  </a:t>
            </a:r>
            <a:r>
              <a:rPr sz="1600" b="1">
                <a:solidFill>
                  <a:srgbClr val="2F7D6B"/>
                </a:solidFill>
                <a:latin typeface="Calibri"/>
              </a:rPr>
              <a:t>correct</a:t>
            </a:r>
            <a:r>
              <a:rPr sz="1600" b="0">
                <a:solidFill>
                  <a:srgbClr val="5B6577"/>
                </a:solidFill>
                <a:latin typeface="Calibri"/>
              </a:rPr>
              <a:t>  −  </a:t>
            </a:r>
            <a:r>
              <a:rPr sz="1600" b="1">
                <a:solidFill>
                  <a:srgbClr val="9E3B3B"/>
                </a:solidFill>
                <a:latin typeface="Calibri"/>
              </a:rPr>
              <a:t>incorrect</a:t>
            </a:r>
            <a:r>
              <a:rPr sz="1600" b="0">
                <a:solidFill>
                  <a:srgbClr val="5B6577"/>
                </a:solidFill>
                <a:latin typeface="Calibri"/>
              </a:rPr>
              <a:t>            </a:t>
            </a:r>
            <a:r>
              <a:rPr sz="1600" b="1">
                <a:solidFill>
                  <a:srgbClr val="3A4D8F"/>
                </a:solidFill>
                <a:latin typeface="Calibri"/>
              </a:rPr>
              <a:t>relevance</a:t>
            </a:r>
            <a:r>
              <a:rPr sz="1600" b="0">
                <a:solidFill>
                  <a:srgbClr val="5B6577"/>
                </a:solidFill>
                <a:latin typeface="Calibri"/>
              </a:rPr>
              <a:t>  =  cases it fired on  /  all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525780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A4D8F"/>
                </a:solidFill>
                <a:latin typeface="Calibri"/>
              </a:rPr>
              <a:t>Keep the rule if:</a:t>
            </a:r>
          </a:p>
          <a:p>
            <a:pPr>
              <a:spcBef>
                <a:spcPts val="1100"/>
              </a:spcBef>
              <a:spcAft>
                <a:spcPts val="0"/>
              </a:spcAft>
            </a:pPr>
            <a:r>
              <a:rPr sz="1300" b="1">
                <a:solidFill>
                  <a:srgbClr val="3A4D8F"/>
                </a:solidFill>
                <a:latin typeface="Calibri"/>
              </a:rPr>
              <a:t>•  </a:t>
            </a:r>
            <a:r>
              <a:rPr sz="1300" b="1">
                <a:solidFill>
                  <a:srgbClr val="1A1F2B"/>
                </a:solidFill>
                <a:latin typeface="Calibri"/>
              </a:rPr>
              <a:t>relevance ≥ 0.10</a:t>
            </a:r>
            <a:r>
              <a:rPr sz="1300" b="0">
                <a:solidFill>
                  <a:srgbClr val="5B6577"/>
                </a:solidFill>
                <a:latin typeface="Calibri"/>
              </a:rPr>
              <a:t>   (not a one-off)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3A4D8F"/>
                </a:solidFill>
                <a:latin typeface="Calibri"/>
              </a:rPr>
              <a:t>•  </a:t>
            </a:r>
            <a:r>
              <a:rPr sz="1300" b="1">
                <a:solidFill>
                  <a:srgbClr val="1A1F2B"/>
                </a:solidFill>
                <a:latin typeface="Calibri"/>
              </a:rPr>
              <a:t>net &gt; 0</a:t>
            </a:r>
            <a:r>
              <a:rPr sz="1300" b="0">
                <a:solidFill>
                  <a:srgbClr val="5B6577"/>
                </a:solidFill>
                <a:latin typeface="Calibri"/>
              </a:rPr>
              <a:t>   (explains more than it breaks)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3A4D8F"/>
                </a:solidFill>
                <a:latin typeface="Calibri"/>
              </a:rPr>
              <a:t>•  </a:t>
            </a:r>
            <a:r>
              <a:rPr sz="1300" b="0">
                <a:solidFill>
                  <a:srgbClr val="1A1F2B"/>
                </a:solidFill>
                <a:latin typeface="Calibri"/>
              </a:rPr>
              <a:t>then rank by net, keep the top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49039"/>
            <a:ext cx="5257800" cy="2331720"/>
          </a:xfrm>
          <a:prstGeom prst="roundRect">
            <a:avLst/>
          </a:prstGeom>
          <a:solidFill>
            <a:srgbClr val="F2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F2B"/>
                </a:solidFill>
                <a:latin typeface="Calibri"/>
              </a:rPr>
              <a:t>Real run — the A9 “keep the value” rule:</a:t>
            </a:r>
          </a:p>
          <a:p>
            <a:pPr>
              <a:spcBef>
                <a:spcPts val="1100"/>
              </a:spcBef>
              <a:spcAft>
                <a:spcPts val="0"/>
              </a:spcAft>
            </a:pPr>
            <a:r>
              <a:rPr sz="1250" b="1">
                <a:solidFill>
                  <a:srgbClr val="3A4D8F"/>
                </a:solidFill>
                <a:latin typeface="Calibri"/>
              </a:rPr>
              <a:t>•  </a:t>
            </a:r>
            <a:r>
              <a:rPr sz="1250" b="0">
                <a:solidFill>
                  <a:srgbClr val="5B6577"/>
                </a:solidFill>
                <a:latin typeface="Calibri"/>
              </a:rPr>
              <a:t>fired on 71 of 163 cases  →  relevance 0.44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3A4D8F"/>
                </a:solidFill>
                <a:latin typeface="Calibri"/>
              </a:rPr>
              <a:t>•  </a:t>
            </a:r>
            <a:r>
              <a:rPr sz="1250" b="0">
                <a:solidFill>
                  <a:srgbClr val="5B6577"/>
                </a:solidFill>
                <a:latin typeface="Calibri"/>
              </a:rPr>
              <a:t>correct 40, incorrect 31  →  </a:t>
            </a:r>
            <a:r>
              <a:rPr sz="1250" b="1">
                <a:solidFill>
                  <a:srgbClr val="2F7D6B"/>
                </a:solidFill>
                <a:latin typeface="Calibri"/>
              </a:rPr>
              <a:t>net +9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3A4D8F"/>
                </a:solidFill>
                <a:latin typeface="Calibri"/>
              </a:rPr>
              <a:t>•  </a:t>
            </a:r>
            <a:r>
              <a:rPr sz="1250" b="1">
                <a:solidFill>
                  <a:srgbClr val="2F7D6B"/>
                </a:solidFill>
                <a:latin typeface="Calibri"/>
              </a:rPr>
              <a:t>kept — ranked #2 in the constitution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A4D8F"/>
                </a:solidFill>
                <a:latin typeface="Calibri"/>
              </a:rPr>
              <a:t>STAGE 3 —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F2B"/>
                </a:solidFill>
                <a:latin typeface="Calibri"/>
              </a:rPr>
              <a:t>What the test runs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The test set = every reject/modify decision (true answer: reject) plus every accept decision (true answer: accept), pooled across all reviewers.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The model is shown only the rule + requirement + AI's change — never the decision, and never which reviewer made it.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5B6577"/>
                </a:solidFill>
                <a:latin typeface="Calibri"/>
              </a:rPr>
              <a:t>Cases are scored in batches of 30 (BATCH); a malformed JSON reply is retried before defaulting to na.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A4D8F"/>
                </a:solidFill>
                <a:latin typeface="Calibri"/>
              </a:rPr>
              <a:t>The kept top-5 then face the agreement test: do they help a judge match the reviewers better than no rules at all?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A4D8F"/>
                </a:solidFill>
                <a:latin typeface="Calibri"/>
              </a:rPr>
              <a:t>THE 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F2B"/>
                </a:solidFill>
                <a:latin typeface="Calibri"/>
              </a:rPr>
              <a:t>Why score it this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Net contribution is a trap for lazy rules that don't actually say anything: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5B6577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B6577"/>
                </a:solidFill>
                <a:latin typeface="Calibri"/>
              </a:rPr>
              <a:t>“reject everything” — right on every rejection, but wrong on every accept → net collapses → dropped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5B6577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B6577"/>
                </a:solidFill>
                <a:latin typeface="Calibri"/>
              </a:rPr>
              <a:t>“accept everything” — explains none of the disagreements → net below zero → dropped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5B6577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B6577"/>
                </a:solidFill>
                <a:latin typeface="Calibri"/>
              </a:rPr>
              <a:t>“na to everything” — fires on nothing → fails the relevance floor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Only a rule that is genuinely specific about when it applies can score net above zero.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A4D8F"/>
                </a:solidFill>
                <a:latin typeface="Calibri"/>
              </a:rPr>
              <a:t>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F2B"/>
                </a:solidFill>
                <a:latin typeface="Calibri"/>
              </a:rPr>
              <a:t>One thing to keep in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The "expert" here is the reviewers, not the ground truth.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A rule that passes has learned to predict the reviewers well.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But reviewers don't always agree with the gold standard, so a passing rule isn't automatically a better evaluator.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A1F2B"/>
                </a:solidFill>
                <a:latin typeface="Calibri"/>
              </a:rPr>
              <a:t>That's why we still score the evaluator itself against ground truth, separately.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