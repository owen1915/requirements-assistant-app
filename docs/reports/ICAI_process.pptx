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651760"/>
          </a:xfrm>
          <a:prstGeom prst="rect">
            <a:avLst/>
          </a:prstGeom>
          <a:solidFill>
            <a:srgbClr val="3A4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Learning review rules with ICAI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EAF6"/>
                </a:solidFill>
                <a:latin typeface="Calibri"/>
              </a:rPr>
              <a:t>Turning experts' accept and reject decisions into rules that get tested before they're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577"/>
                </a:solidFill>
                <a:latin typeface="Calibri"/>
              </a:rPr>
              <a:t>Inverse Constitutional AI, applied to INCOSE requirement reviews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4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A4D8F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F2B"/>
                </a:solidFill>
                <a:latin typeface="Calibri"/>
              </a:rP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Normally, rules are written first and used to judge requirements.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ICAI works the other way round: start from the reviewers' decisions and figure out the rule behind them.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We only look at cases where a reviewer overruled the AI — a reject or a modify.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A rule is kept only if it can predict those decisions on its 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4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A4D8F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F2B"/>
                </a:solidFill>
                <a:latin typeface="Calibri"/>
              </a:rPr>
              <a:t>Three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Abstraction — write candidate rules from the overruled cases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Deduplication — merge the ones that say the same thing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Validation — test whether each rule predicts the real decisions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5B6577"/>
                </a:solidFill>
                <a:latin typeface="Calibri"/>
              </a:rPr>
              <a:t>The first two are quick. Validation is where most candidates get thrown 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4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A4D8F"/>
                </a:solidFill>
                <a:latin typeface="Calibri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F2B"/>
                </a:solidFill>
                <a:latin typeface="Calibri"/>
              </a:rPr>
              <a:t>Stage 1 — Abstraction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Group the reject and modify cases by criterion (A9, A10, and so on).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Ask the model to write one to three short rules that capture the pattern.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They all take the same shape: "Do not flag X when Y."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These are just candidates at this point. Nothing is trusted yet.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4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A4D8F"/>
                </a:solidFill>
                <a:latin typeface="Calibri"/>
              </a:rPr>
              <a:t>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F2B"/>
                </a:solidFill>
                <a:latin typeface="Calibri"/>
              </a:rPr>
              <a:t>Stage 2 — Deduplication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Different criteria often throw up rules that mean the same thing.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Merge the near-duplicates into one clear statement.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Keep genuinely different rules separate.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This stops the same rule getting counted twice later 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4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A4D8F"/>
                </a:solidFill>
                <a:latin typeface="Calibri"/>
              </a:rPr>
              <a:t>STAGE 3 — THE RECONSTRUCTION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F2B"/>
                </a:solidFill>
                <a:latin typeface="Calibri"/>
              </a:rPr>
              <a:t>Stage 3 —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Build a test set: every overruled case (answer = reject) plus every accepted case (answer = accept).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For each rule, show the model the rule, the requirement, and the change the AI proposed.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Hide the reviewer's real decision.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The model predicts one of three: reject, accept, or not relevant (na).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Then compare its guess against the hidden decision.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4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A4D8F"/>
                </a:solidFill>
                <a:latin typeface="Calibri"/>
              </a:rPr>
              <a:t>HOW THE RULE IS SCORED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F2B"/>
                </a:solidFill>
                <a:latin typeface="Calibri"/>
              </a:rPr>
              <a:t>The three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Coverage — how many cases the rule fires on, out of all of them. Is it a real pattern or a one-off?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9E3B3B"/>
                </a:solidFill>
                <a:latin typeface="Calibri"/>
              </a:rPr>
              <a:t>Corrective accuracy — of the real rejections it fires on, how many it gets right. Does it explain the disagreements?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2F7D6B"/>
                </a:solidFill>
                <a:latin typeface="Calibri"/>
              </a:rPr>
              <a:t>Accept accuracy — of the accepted cases it fires on, how many it leaves alone. Does it stay quiet when it should?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5B6577"/>
                </a:solidFill>
                <a:latin typeface="Calibri"/>
              </a:rPr>
              <a:t>A rule is kept only if it passes all three: coverage 0.10, corrective 0.60, accept 0.50.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4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A4D8F"/>
                </a:solidFill>
                <a:latin typeface="Calibri"/>
              </a:rPr>
              <a:t>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F2B"/>
                </a:solidFill>
                <a:latin typeface="Calibri"/>
              </a:rPr>
              <a:t>One candidate on trial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777240"/>
          </a:xfrm>
          <a:prstGeom prst="rect">
            <a:avLst/>
          </a:prstGeom>
          <a:solidFill>
            <a:srgbClr val="F2F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Rule (A9): "Do not flag specific numeric values as lacking traceability when they are already stated in the requirement."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514600"/>
          <a:ext cx="108813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291840"/>
                <a:gridCol w="2743200"/>
                <a:gridCol w="1371600"/>
                <a:gridCol w="1737360"/>
                <a:gridCol w="1280160"/>
              </a:tblGrid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T="25400" marB="25400" anchor="ctr">
                    <a:solidFill>
                      <a:srgbClr val="3A4D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marT="25400" marB="25400" anchor="ctr">
                    <a:solidFill>
                      <a:srgbClr val="3A4D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AI's change</a:t>
                      </a:r>
                    </a:p>
                  </a:txBody>
                  <a:tcPr marT="25400" marB="25400" anchor="ctr">
                    <a:solidFill>
                      <a:srgbClr val="3A4D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T="25400" marB="25400" anchor="ctr">
                    <a:solidFill>
                      <a:srgbClr val="3A4D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True (hidden)</a:t>
                      </a:r>
                    </a:p>
                  </a:txBody>
                  <a:tcPr marT="25400" marB="25400" anchor="ctr">
                    <a:solidFill>
                      <a:srgbClr val="3A4D8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T="25400" marB="25400" anchor="ctr">
                    <a:solidFill>
                      <a:srgbClr val="3A4D8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…accuracy of ±2.5 cm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→ [value traceable]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9E3B3B"/>
                          </a:solidFill>
                          <a:latin typeface="Calibri"/>
                        </a:rPr>
                        <a:t>reject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9E3B3B"/>
                          </a:solidFill>
                          <a:latin typeface="Calibri"/>
                        </a:rPr>
                        <a:t>reject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F7D6B"/>
                          </a:solidFill>
                          <a:latin typeface="Calibri"/>
                        </a:rPr>
                        <a:t>right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25400" marB="25400"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…within 5 seconds</a:t>
                      </a:r>
                    </a:p>
                  </a:txBody>
                  <a:tcPr marT="25400" marB="25400"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→ [TBD]</a:t>
                      </a:r>
                    </a:p>
                  </a:txBody>
                  <a:tcPr marT="25400" marB="25400"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9E3B3B"/>
                          </a:solidFill>
                          <a:latin typeface="Calibri"/>
                        </a:rPr>
                        <a:t>reject</a:t>
                      </a:r>
                    </a:p>
                  </a:txBody>
                  <a:tcPr marT="25400" marB="25400"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9E3B3B"/>
                          </a:solidFill>
                          <a:latin typeface="Calibri"/>
                        </a:rPr>
                        <a:t>reject</a:t>
                      </a:r>
                    </a:p>
                  </a:txBody>
                  <a:tcPr marT="25400" marB="25400"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F7D6B"/>
                          </a:solidFill>
                          <a:latin typeface="Calibri"/>
                        </a:rPr>
                        <a:t>right</a:t>
                      </a:r>
                    </a:p>
                  </a:txBody>
                  <a:tcPr marT="25400" marB="25400" anchor="ctr">
                    <a:solidFill>
                      <a:srgbClr val="F2F3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…shall be user-friendly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→ measurable def.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B6577"/>
                          </a:solidFill>
                          <a:latin typeface="Calibri"/>
                        </a:rPr>
                        <a:t>na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F7D6B"/>
                          </a:solidFill>
                          <a:latin typeface="Calibri"/>
                        </a:rPr>
                        <a:t>accept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B6577"/>
                          </a:solidFill>
                          <a:latin typeface="Calibri"/>
                        </a:rPr>
                        <a:t>set aside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25400" marB="25400"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…respond within 100 ms</a:t>
                      </a:r>
                    </a:p>
                  </a:txBody>
                  <a:tcPr marT="25400" marB="25400"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→ [TBD]</a:t>
                      </a:r>
                    </a:p>
                  </a:txBody>
                  <a:tcPr marT="25400" marB="25400"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9E3B3B"/>
                          </a:solidFill>
                          <a:latin typeface="Calibri"/>
                        </a:rPr>
                        <a:t>reject</a:t>
                      </a:r>
                    </a:p>
                  </a:txBody>
                  <a:tcPr marT="25400" marB="25400"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F7D6B"/>
                          </a:solidFill>
                          <a:latin typeface="Calibri"/>
                        </a:rPr>
                        <a:t>accept</a:t>
                      </a:r>
                    </a:p>
                  </a:txBody>
                  <a:tcPr marT="25400" marB="25400" anchor="ctr">
                    <a:solidFill>
                      <a:srgbClr val="F2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9E3B3B"/>
                          </a:solidFill>
                          <a:latin typeface="Calibri"/>
                        </a:rPr>
                        <a:t>wrong</a:t>
                      </a:r>
                    </a:p>
                  </a:txBody>
                  <a:tcPr marT="25400" marB="25400" anchor="ctr">
                    <a:solidFill>
                      <a:srgbClr val="F2F3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…store data and transmit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F2B"/>
                          </a:solidFill>
                          <a:latin typeface="Calibri"/>
                        </a:rPr>
                        <a:t>→ split in two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5B6577"/>
                          </a:solidFill>
                          <a:latin typeface="Calibri"/>
                        </a:rPr>
                        <a:t>na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F7D6B"/>
                          </a:solidFill>
                          <a:latin typeface="Calibri"/>
                        </a:rPr>
                        <a:t>accept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B6577"/>
                          </a:solidFill>
                          <a:latin typeface="Calibri"/>
                        </a:rPr>
                        <a:t>set aside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4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A4D8F"/>
                </a:solidFill>
                <a:latin typeface="Calibri"/>
              </a:rPr>
              <a:t>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F2B"/>
                </a:solidFill>
                <a:latin typeface="Calibri"/>
              </a:rPr>
              <a:t>The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The two na cases drop out, which leaves three: two real rejections and one accept.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Coverage: 3 of 5 = 0.60  —  passes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9E3B3B"/>
                </a:solidFill>
                <a:latin typeface="Calibri"/>
              </a:rPr>
              <a:t>Corrective accuracy: 2 of 2 = 1.00  —  passes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3A4D8F"/>
                </a:solidFill>
                <a:latin typeface="Calibri"/>
              </a:rPr>
              <a:t>Accept accuracy: 0 of 1 = 0.00  —  fails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Verdict: dropped. It nailed the rejections, but it fired on case 4, which the reviewer accepted.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4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A4D8F"/>
                </a:solidFill>
                <a:latin typeface="Calibri"/>
              </a:rPr>
              <a:t>THE GUARDRAIL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F2B"/>
                </a:solidFill>
                <a:latin typeface="Calibri"/>
              </a:rPr>
              <a:t>Why it's built this 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The scoring is a trap for lazy rules that don't actually say anything: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5B6577"/>
                </a:solidFill>
                <a:latin typeface="Calibri"/>
              </a:rPr>
              <a:t>–  </a:t>
            </a:r>
            <a:r>
              <a:rPr sz="1600" b="0">
                <a:solidFill>
                  <a:srgbClr val="5B6577"/>
                </a:solidFill>
                <a:latin typeface="Calibri"/>
              </a:rPr>
              <a:t>Say "reject" to everything — fails accept accuracy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5B6577"/>
                </a:solidFill>
                <a:latin typeface="Calibri"/>
              </a:rPr>
              <a:t>–  </a:t>
            </a:r>
            <a:r>
              <a:rPr sz="1600" b="0">
                <a:solidFill>
                  <a:srgbClr val="5B6577"/>
                </a:solidFill>
                <a:latin typeface="Calibri"/>
              </a:rPr>
              <a:t>Say "accept" to everything — fails corrective accuracy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5B6577"/>
                </a:solidFill>
                <a:latin typeface="Calibri"/>
              </a:rPr>
              <a:t>–  </a:t>
            </a:r>
            <a:r>
              <a:rPr sz="1600" b="0">
                <a:solidFill>
                  <a:srgbClr val="5B6577"/>
                </a:solidFill>
                <a:latin typeface="Calibri"/>
              </a:rPr>
              <a:t>Say "na" to everything — fails coverage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The only way through is a rule that is genuinely specific about when it applies.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A4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A4D8F"/>
                </a:solidFill>
                <a:latin typeface="Calibri"/>
              </a:rPr>
              <a:t>CAVEAT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F2B"/>
                </a:solidFill>
                <a:latin typeface="Calibri"/>
              </a:rPr>
              <a:t>One thing to keep in 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The "expert" here is the reviewers, not the ground truth.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A rule that passes has learned to predict the reviewers well.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But reviewers don't always agree with the gold standard, so a passing rule isn't automatically a better evaluator.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3A4D8F"/>
                </a:solidFill>
                <a:latin typeface="Calibri"/>
              </a:rPr>
              <a:t>•  </a:t>
            </a:r>
            <a:r>
              <a:rPr sz="1800" b="0">
                <a:solidFill>
                  <a:srgbClr val="1A1F2B"/>
                </a:solidFill>
                <a:latin typeface="Calibri"/>
              </a:rPr>
              <a:t>That's why we still score the evaluator itself against ground truth, separately.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